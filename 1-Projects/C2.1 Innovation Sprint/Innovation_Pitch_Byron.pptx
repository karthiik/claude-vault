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Innovation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E5FF"/>
                </a:solidFill>
              </a:defRPr>
            </a:pPr>
            <a:r>
              <a:t>Turning Hackathon Energy into Sustainable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Moment We're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286000" cy="12801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Hackathon</a:t>
            </a:r>
            <a:br/>
            <a:r>
              <a:t>Energy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44952" y="2468880"/>
            <a:ext cx="320040" cy="3657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286000" cy="12801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???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88152" y="2468880"/>
            <a:ext cx="320040" cy="3657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2286000" cy="12801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Sustained</a:t>
            </a:r>
            <a:br/>
            <a:r>
              <a:t>Rhythm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We have momentum. Now we need a system — or the energy fades.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Microsoft Showed Us the Playbook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685800"/>
          </a:xfrm>
          <a:prstGeom prst="round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003366"/>
                </a:solidFill>
              </a:defRPr>
            </a:pPr>
            <a:r>
              <a:t>"When you do Kaizen, you'll find a lot of waste. Then you layer in AI."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01168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Microsoft's Recipe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What It Means for Lockton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Kaizen First, AI Second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Find waste → then layer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Business Leader Sponsorship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"Unless sponsored, we don't work on it"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Shared Services Council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Cross-functional idea prioritization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Measure the 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Hard metrics, not just stories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Aligned with Your Strategic Priorities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685800"/>
          </a:xfrm>
          <a:prstGeom prst="round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003366"/>
                </a:solidFill>
              </a:defRPr>
            </a:pPr>
            <a:r>
              <a:t>"IT's job is to remove friction — but cost-constrained."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01168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Your Priority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How Innovation Sprints Deliver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Scale without doing everything differently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Repeatable framework, not one-offs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Remove friction, cost-constrained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Kaizen finds waste; AI automates pain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Data quality as table stakes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Focus on governance &amp; clean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Hard metrics behind ROI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Success criteria defined upfront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Workforce Enablement Unlocks Scale</a:t>
            </a:r>
          </a:p>
        </p:txBody>
      </p:sp>
      <p:sp>
        <p:nvSpPr>
          <p:cNvPr id="4" name="Chevron 3"/>
          <p:cNvSpPr/>
          <p:nvPr/>
        </p:nvSpPr>
        <p:spPr>
          <a:xfrm>
            <a:off x="365760" y="1280160"/>
            <a:ext cx="4114800" cy="594360"/>
          </a:xfrm>
          <a:prstGeom prst="chevron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1: SUMMARIZE — emails, docs, meetings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984248"/>
            <a:ext cx="4663440" cy="594360"/>
          </a:xfrm>
          <a:prstGeom prst="chevron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2: AUTOMATE — action items, routine tasks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2688336"/>
            <a:ext cx="5212080" cy="594360"/>
          </a:xfrm>
          <a:prstGeom prst="chevron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3: CREATE — presentations, reports, drafts</a:t>
            </a:r>
          </a:p>
        </p:txBody>
      </p:sp>
      <p:sp>
        <p:nvSpPr>
          <p:cNvPr id="7" name="Chevron 6"/>
          <p:cNvSpPr/>
          <p:nvPr/>
        </p:nvSpPr>
        <p:spPr>
          <a:xfrm>
            <a:off x="365760" y="3392424"/>
            <a:ext cx="5760720" cy="594360"/>
          </a:xfrm>
          <a:prstGeom prst="chevr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Level 4: TRUST — agentic workflows + oversight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AI is 'jagged' — brilliant at some things, fails at basics.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You can't trust it blindly.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Intuition comes from personal use.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When workforce is enabled, AI scales naturally.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Shared Services First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023360" cy="914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" y="1307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6699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High Volume Processes</a:t>
            </a:r>
          </a:p>
          <a:p>
            <a:pPr>
              <a:defRPr sz="1000">
                <a:solidFill>
                  <a:srgbClr val="DCDCDC"/>
                </a:solidFill>
              </a:defRPr>
            </a:pPr>
            <a:r>
              <a:t>Ideal for Kaizen +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34440"/>
            <a:ext cx="402336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36592" y="1307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25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Cross-Functional Visibility</a:t>
            </a:r>
          </a:p>
          <a:p>
            <a:pPr>
              <a:defRPr sz="1000">
                <a:solidFill>
                  <a:srgbClr val="DCDCDC"/>
                </a:solidFill>
              </a:defRPr>
            </a:pPr>
            <a:r>
              <a:t>Tim &amp; Nick see impact everywhere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86000"/>
            <a:ext cx="402336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" y="23591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Measurable Outcomes</a:t>
            </a:r>
          </a:p>
          <a:p>
            <a:pPr>
              <a:defRPr sz="1000">
                <a:solidFill>
                  <a:srgbClr val="DCDCDC"/>
                </a:solidFill>
              </a:defRPr>
            </a:pPr>
            <a:r>
              <a:t>Cycle time, errors, cost/transaction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86000"/>
            <a:ext cx="4023360" cy="9144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36592" y="235915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A1B9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Internal Customers</a:t>
            </a:r>
          </a:p>
          <a:p>
            <a:pPr>
              <a:defRPr sz="1000">
                <a:solidFill>
                  <a:srgbClr val="DCDCDC"/>
                </a:solidFill>
              </a:defRPr>
            </a:pPr>
            <a:r>
              <a:t>Lower risk than client-facing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37560"/>
            <a:ext cx="4023360" cy="9144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" y="341071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796B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Quick Wins Compound</a:t>
            </a:r>
          </a:p>
          <a:p>
            <a:pPr>
              <a:defRPr sz="1000">
                <a:solidFill>
                  <a:srgbClr val="DCDCDC"/>
                </a:solidFill>
              </a:defRPr>
            </a:pPr>
            <a:r>
              <a:t>Each win builds the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337560"/>
            <a:ext cx="4023360" cy="9144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36592" y="341071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71C1C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290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Council Model</a:t>
            </a:r>
          </a:p>
          <a:p>
            <a:pPr>
              <a:defRPr sz="1000">
                <a:solidFill>
                  <a:srgbClr val="DCDCDC"/>
                </a:solidFill>
              </a:defRPr>
            </a:pPr>
            <a:r>
              <a:t>Microsoft-proven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Sprint Model: 4-Week Cadence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023360" cy="41148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What IT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Infrastructure for secure AI deployment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Data governance &amp; integration layer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Measurement &amp; tracing frameworks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Sprint facilitation &amp; technical enablement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88720"/>
            <a:ext cx="402336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What Business Provides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69164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Process ownership &amp; domain expertise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Sponsorship &amp; prioritization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Change management for teams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• Success metrics &amp; adoption ownership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Tim and Nick Will See by Q2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Completed Sprints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End-to-end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Proven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Efficiency Gains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Hours saved, error reduction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Hard ROI to report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Enabled Workforce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Team AI-fluent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Adoption not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Documented Playbook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Repeatable process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Scalability proof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Scale Path: Earn the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2148840"/>
            <a:ext cx="320040" cy="32004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</a:defRPr>
            </a:pPr>
            <a:r>
              <a:t>Q1-Q2: Shared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Partner with Tim/Nick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Deliver 3-5 wins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Build the playbook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2148840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Q3: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Byron champions model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Expand to client-facing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Train the trainers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2148840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Q4+: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Regional CIOs adopt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Local champions own it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Becomes Lockton standard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Addressing the Hard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685800"/>
          </a:xfrm>
          <a:prstGeom prst="round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003366"/>
                </a:solidFill>
              </a:defRPr>
            </a:pPr>
            <a:r>
              <a:t>"Bad news is better than uncertainty. Share intent."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01168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Your Concern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Our Answer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"Insurance expects fully baked"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Complete solutions with human-in-the-loop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"Need hard metrics for ROI"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Success criteria defined before sprint starts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"Change management is hard"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HR partner involved; process owner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"Skittish on global comms"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comms until we have wins to show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914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"AI in insurance isn't a technology project — it's a workforce transformation."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✓  Your sponsorship as IT champion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✓  Introduction to Tim and Nick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✓  Air cover for experimentation</a:t>
            </a:r>
          </a:p>
          <a:p>
            <a:pPr>
              <a:spcAft>
                <a:spcPts val="1800"/>
              </a:spcAft>
              <a:defRPr sz="2000">
                <a:solidFill>
                  <a:srgbClr val="FFFFFF"/>
                </a:solidFill>
              </a:defRPr>
            </a:pPr>
            <a:r>
              <a:t>✓  Quarterly visibility on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This, Why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8412480" cy="685800"/>
          </a:xfrm>
          <a:prstGeom prst="round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003366"/>
                </a:solidFill>
              </a:defRPr>
            </a:pPr>
            <a:r>
              <a:t>"The choice: Let momentum fade, or channel it into a system that scales."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Hackathon momentum — people are energized NOW (energy fades fast)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Microsoft playbook — fresh insights from Seattle, validated approach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Lockton growth targets — $4B → $7.1B requires efficiency, not just headcount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Three forces converging — the window is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